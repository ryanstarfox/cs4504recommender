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SFT 做的是重排，不是重新召回。候选仍是 SASRec 的 Top-10，所以命中率不会变。</a:t>
            </a:r>
          </a:p>
          <a:p>
            <a:r>
              <a:t>模型是 Qwen3.5-0.8B 的文本 LoRA，思考模式关掉。训练只使用真实下一部已经出现在这 10 部里的用户。</a:t>
            </a:r>
          </a:p>
          <a:p>
            <a:r>
              <a:t>监督目标是把真实电影放在第一位。测试集的标签没有进入损失。</a:t>
            </a:r>
          </a:p>
          <a:p>
            <a:r>
              <a:t>报告里的句子来自 llama.cpp，不是训练时的采样。HR@10 与 SASRec 同为 0.12466887。NDCG@10 是 0.06362731，低于原始顺序的 0.06466999。命中的 753 人里，变好 44 人，变差 190 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 页回答策略优化有没有用，不预设 SFT、DPO、GRPO 谁更好。</a:t>
            </a:r>
          </a:p>
          <a:p>
            <a:r>
              <a:t>DPO 和 GRPO 都从同一份 SFT 开始。DPO 的正例是真实下一部，负例是同一个 Top-10 里的另一部。</a:t>
            </a:r>
          </a:p>
          <a:p>
            <a:r>
              <a:t>GRPO 的一组排序由 llama.cpp 从冻结的 SFT 采样一次，奖励是 NDCG，训练过程中不再生成。</a:t>
            </a:r>
          </a:p>
          <a:p>
            <a:r>
              <a:t>测试仍覆盖全部 6040 个用户。三行 HR@10 都是 0.12466887。NDCG@10：SFT 0.06362731，DPO 0.06457566，GRPO 0.06506303。SASRec 是 0.06466999。</a:t>
            </a:r>
          </a:p>
          <a:p>
            <a:r>
              <a:t>DPO 基本没改原来的顺序。GRPO 提前和推后各 18 人，但提前的幅度更大，平均名次从 4.641 提到 4.633。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 页只留这两句，交给 A 收进贡献页。不要在这里再报一遍完整的实验设置。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432000"/>
            <a:ext cx="108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F3A68"/>
                </a:solidFill>
                <a:latin typeface="Microsoft YaHei"/>
                <a:rFonts ascii="Microsoft YaHei" hAnsi="Microsoft YaHei" eastAsia="Microsoft YaHei"/>
              </a:rPr>
              <a:t>第 7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20000"/>
            <a:ext cx="10800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3A68"/>
                </a:solidFill>
                <a:latin typeface="Microsoft YaHei"/>
                <a:rFonts ascii="Microsoft YaHei" hAnsi="Microsoft YaHei" eastAsia="Microsoft YaHei"/>
              </a:rPr>
              <a:t>SFT 重排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00" y="1296000"/>
            <a:ext cx="2880000" cy="19050"/>
          </a:xfrm>
          <a:prstGeom prst="rect">
            <a:avLst/>
          </a:prstGeom>
          <a:solidFill>
            <a:srgbClr val="D5D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00" y="1512000"/>
            <a:ext cx="10980000" cy="309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  <a:rFonts ascii="Microsoft YaHei" hAnsi="Microsoft YaHei" eastAsia="Microsoft YaHei"/>
              </a:rPr>
              <a:t>在 SASRec 已经给出的 10 部电影里重排，不更换候选。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  <a:rFonts ascii="Microsoft YaHei" hAnsi="Microsoft YaHei" eastAsia="Microsoft YaHei"/>
              </a:rPr>
              <a:t>Qwen3.5-0.8B 只训练文本分支的 LoRA，rank 8、alpha 16，思考模式关闭。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  <a:rFonts ascii="Microsoft YaHei" hAnsi="Microsoft YaHei" eastAsia="Microsoft YaHei"/>
              </a:rPr>
              <a:t>只保留真实下一部已在 Top-10 中的用户。目标是把这部电影放在第一位，其余保持召回顺序。测试标签不进入训练。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  <a:rFonts ascii="Microsoft YaHei" hAnsi="Microsoft YaHei" eastAsia="Microsoft YaHei"/>
              </a:rPr>
              <a:t>写进报告的生成来自 llama.cpp：LoRA 先并进基座，再转成 GGUF。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4824000"/>
            <a:ext cx="10980000" cy="129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3A68"/>
                </a:solidFill>
                <a:latin typeface="Microsoft YaHei"/>
                <a:rFonts ascii="Microsoft YaHei" hAnsi="Microsoft YaHei" eastAsia="Microsoft YaHei"/>
              </a:rPr>
              <a:t>结果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  <a:rFonts ascii="Microsoft YaHei" hAnsi="Microsoft YaHei" eastAsia="Microsoft YaHei"/>
              </a:rPr>
              <a:t>HR@10 仍是 0.12466887，与 SASRec 相同。NDCG@10 为 0.06362731，低于 SASRec 的 0.06466999。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C6370"/>
                </a:solidFill>
                <a:latin typeface="Microsoft YaHei"/>
                <a:rFonts ascii="Microsoft YaHei" hAnsi="Microsoft YaHei" eastAsia="Microsoft YaHei"/>
              </a:rPr>
              <a:t>753 个命中里，44 个排得更靠前，190 个排得更靠后。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96000"/>
            <a:ext cx="108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F3A68"/>
                </a:solidFill>
                <a:latin typeface="Microsoft YaHei"/>
                <a:rFonts ascii="Microsoft YaHei" hAnsi="Microsoft YaHei" eastAsia="Microsoft YaHei"/>
              </a:rPr>
              <a:t>第 8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48000"/>
            <a:ext cx="10800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3A68"/>
                </a:solidFill>
                <a:latin typeface="Microsoft YaHei"/>
                <a:rFonts ascii="Microsoft YaHei" hAnsi="Microsoft YaHei" eastAsia="Microsoft YaHei"/>
              </a:rPr>
              <a:t>DPO 与 GRPO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00" y="1188000"/>
            <a:ext cx="2880000" cy="19050"/>
          </a:xfrm>
          <a:prstGeom prst="rect">
            <a:avLst/>
          </a:prstGeom>
          <a:solidFill>
            <a:srgbClr val="D5D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00" y="1332000"/>
            <a:ext cx="10980000" cy="18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  <a:rFonts ascii="Microsoft YaHei" hAnsi="Microsoft YaHei" eastAsia="Microsoft YaHei"/>
              </a:rPr>
              <a:t>要回答的问题是：策略优化有没有进一步改进这种重排。表上不预设谁更好。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  <a:rFonts ascii="Microsoft YaHei" hAnsi="Microsoft YaHei" eastAsia="Microsoft YaHei"/>
              </a:rPr>
              <a:t>DPO 从同一份 SFT 继续训练。chosen 是真实下一部，rejected 是同一个 Top-10 里的另一部，参考模型是冻结的 SFT。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  <a:rFonts ascii="Microsoft YaHei" hAnsi="Microsoft YaHei" eastAsia="Microsoft YaHei"/>
              </a:rPr>
              <a:t>GRPO 也从这份冻结的 SFT 出发，不从 DPO 继续。llama.cpp 采样一组排序后存成文件，奖励是相对真实下一部的 NDCG。训练时不再重新采样。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6000" y="3311999"/>
          <a:ext cx="7920000" cy="22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2880000"/>
                <a:gridCol w="2880000"/>
              </a:tblGrid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rFonts ascii="Microsoft YaHei" hAnsi="Microsoft YaHei" eastAsia="Microsoft YaHei"/>
                        </a:rPr>
                        <a:t>模型</a:t>
                      </a:r>
                    </a:p>
                  </a:txBody>
                  <a:tcPr marL="108000" marR="72000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rFonts ascii="Microsoft YaHei" hAnsi="Microsoft YaHei" eastAsia="Microsoft YaHei"/>
                        </a:rPr>
                        <a:t>HR@10</a:t>
                      </a:r>
                    </a:p>
                  </a:txBody>
                  <a:tcPr marL="108000" marR="72000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rFonts ascii="Microsoft YaHei" hAnsi="Microsoft YaHei" eastAsia="Microsoft YaHei"/>
                        </a:rPr>
                        <a:t>NDCG@10</a:t>
                      </a:r>
                    </a:p>
                  </a:txBody>
                  <a:tcPr marL="108000" marR="72000" anchor="ctr">
                    <a:solidFill>
                      <a:srgbClr val="1F3A68"/>
                    </a:solidFill>
                  </a:tcPr>
                </a:tc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rFonts ascii="Microsoft YaHei" hAnsi="Microsoft YaHei" eastAsia="Microsoft YaHei"/>
                        </a:rPr>
                        <a:t>SASRec</a:t>
                      </a:r>
                    </a:p>
                  </a:txBody>
                  <a:tcPr marL="108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rFonts ascii="Microsoft YaHei" hAnsi="Microsoft YaHei" eastAsia="Microsoft YaHei"/>
                        </a:rPr>
                        <a:t>0.12466887</a:t>
                      </a:r>
                    </a:p>
                  </a:txBody>
                  <a:tcPr marL="108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rFonts ascii="Microsoft YaHei" hAnsi="Microsoft YaHei" eastAsia="Microsoft YaHei"/>
                        </a:rPr>
                        <a:t>0.06466999</a:t>
                      </a:r>
                    </a:p>
                  </a:txBody>
                  <a:tcPr marL="108000" marR="72000" anchor="ctr">
                    <a:solidFill>
                      <a:srgbClr val="FFFFFF"/>
                    </a:solidFill>
                  </a:tcPr>
                </a:tc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rFonts ascii="Microsoft YaHei" hAnsi="Microsoft YaHei" eastAsia="Microsoft YaHei"/>
                        </a:rPr>
                        <a:t>SFT</a:t>
                      </a:r>
                    </a:p>
                  </a:txBody>
                  <a:tcPr marL="108000" marR="720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rFonts ascii="Microsoft YaHei" hAnsi="Microsoft YaHei" eastAsia="Microsoft YaHei"/>
                        </a:rPr>
                        <a:t>0.12466887</a:t>
                      </a:r>
                    </a:p>
                  </a:txBody>
                  <a:tcPr marL="108000" marR="720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rFonts ascii="Microsoft YaHei" hAnsi="Microsoft YaHei" eastAsia="Microsoft YaHei"/>
                        </a:rPr>
                        <a:t>0.06362731</a:t>
                      </a:r>
                    </a:p>
                  </a:txBody>
                  <a:tcPr marL="108000" marR="72000" anchor="ctr">
                    <a:solidFill>
                      <a:srgbClr val="F4F6F9"/>
                    </a:solidFill>
                  </a:tcPr>
                </a:tc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rFonts ascii="Microsoft YaHei" hAnsi="Microsoft YaHei" eastAsia="Microsoft YaHei"/>
                        </a:rPr>
                        <a:t>DPO</a:t>
                      </a:r>
                    </a:p>
                  </a:txBody>
                  <a:tcPr marL="108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rFonts ascii="Microsoft YaHei" hAnsi="Microsoft YaHei" eastAsia="Microsoft YaHei"/>
                        </a:rPr>
                        <a:t>0.12466887</a:t>
                      </a:r>
                    </a:p>
                  </a:txBody>
                  <a:tcPr marL="108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rFonts ascii="Microsoft YaHei" hAnsi="Microsoft YaHei" eastAsia="Microsoft YaHei"/>
                        </a:rPr>
                        <a:t>0.06457566</a:t>
                      </a:r>
                    </a:p>
                  </a:txBody>
                  <a:tcPr marL="108000" marR="72000" anchor="ctr">
                    <a:solidFill>
                      <a:srgbClr val="FFFFFF"/>
                    </a:solidFill>
                  </a:tcPr>
                </a:tc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rFonts ascii="Microsoft YaHei" hAnsi="Microsoft YaHei" eastAsia="Microsoft YaHei"/>
                        </a:rPr>
                        <a:t>GRPO</a:t>
                      </a:r>
                    </a:p>
                  </a:txBody>
                  <a:tcPr marL="108000" marR="720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rFonts ascii="Microsoft YaHei" hAnsi="Microsoft YaHei" eastAsia="Microsoft YaHei"/>
                        </a:rPr>
                        <a:t>0.12466887</a:t>
                      </a:r>
                    </a:p>
                  </a:txBody>
                  <a:tcPr marL="108000" marR="720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rFonts ascii="Microsoft YaHei" hAnsi="Microsoft YaHei" eastAsia="Microsoft YaHei"/>
                        </a:rPr>
                        <a:t>0.06506303</a:t>
                      </a:r>
                    </a:p>
                  </a:txBody>
                  <a:tcPr marL="108000" marR="72000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6000" y="5760000"/>
            <a:ext cx="10980000" cy="79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C6370"/>
                </a:solidFill>
                <a:latin typeface="Microsoft YaHei"/>
                <a:rFonts ascii="Microsoft YaHei" hAnsi="Microsoft YaHei" eastAsia="Microsoft YaHei"/>
              </a:rPr>
              <a:t>DPO 几乎回到原来的召回顺序。GRPO 比 SASRec 高约 0.6%：提前和推后各 18 人，平均名次从 4.641 到 4.633。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432000"/>
            <a:ext cx="108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F3A68"/>
                </a:solidFill>
                <a:latin typeface="Microsoft YaHei"/>
                <a:rFonts ascii="Microsoft YaHei" hAnsi="Microsoft YaHei" eastAsia="Microsoft YaHei"/>
              </a:rPr>
              <a:t>第 10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20000"/>
            <a:ext cx="10800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3A68"/>
                </a:solidFill>
                <a:latin typeface="Microsoft YaHei"/>
                <a:rFonts ascii="Microsoft YaHei" hAnsi="Microsoft YaHei" eastAsia="Microsoft YaHei"/>
              </a:rPr>
              <a:t>贡献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00" y="1296000"/>
            <a:ext cx="2880000" cy="19050"/>
          </a:xfrm>
          <a:prstGeom prst="rect">
            <a:avLst/>
          </a:prstGeom>
          <a:solidFill>
            <a:srgbClr val="D5D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00" y="1655999"/>
            <a:ext cx="10980000" cy="28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YaHei"/>
                <a:rFonts ascii="Microsoft YaHei" hAnsi="Microsoft YaHei" eastAsia="Microsoft YaHei"/>
              </a:rPr>
              <a:t>负责 Qwen3.5-0.8B 的 SFT、DPO 和 GRPO 重排。训练使用文本 LoRA，报告中的测试生成来自 llama.cpp。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YaHei"/>
                <a:rFonts ascii="Microsoft YaHei" hAnsi="Microsoft YaHei" eastAsia="Microsoft YaHei"/>
              </a:rPr>
              <a:t>三行结果都写入 data/results.csv。重排不改变 HR@10。GRPO 的 NDCG@10 略高于 SASRec 的原始 Top-10，SFT 则略低。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